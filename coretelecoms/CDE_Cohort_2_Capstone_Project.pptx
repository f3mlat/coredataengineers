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1" r:id="rId5"/>
    <p:sldId id="260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19C33-3635-3F42-4DA4-2A0748B07C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A54172-84B8-BF3A-AA73-67E5CC4FC8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8FC591-5CD9-54B5-5FE8-53D51C35E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92B39-0F62-42F4-8654-D7BA1F33A135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5C15DA-6D46-F377-3231-A00D67AE8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EAD404-4491-0391-5F54-510DF23B3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BD7E0-0335-4076-B3F0-9C24FD5C3F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688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7112A-62D9-5E3A-7219-859EBC7BD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50EA15-68C8-E1C8-C1A7-D1491E8CA3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C450D9-F006-02F9-5EBC-E9F0BDDDB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92B39-0F62-42F4-8654-D7BA1F33A135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91B8A0-D307-BAA2-D5AE-144837D85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A80F53-C447-6301-5E0A-60FEDD618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BD7E0-0335-4076-B3F0-9C24FD5C3F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997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3CDEF-DC12-29FE-E169-032C0BDFB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F01D6E-5C04-CF5A-EBCA-FDC23BCF7E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28D59E-E174-3158-10AB-BFACADE7D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92B39-0F62-42F4-8654-D7BA1F33A135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30CD1A-4BC3-4024-6E94-66786BD2D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31A921-C49C-5C55-07B0-205A0531B8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BD7E0-0335-4076-B3F0-9C24FD5C3F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2620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94231-5371-B141-7C1C-A10778584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22C8E-0EF5-CDAB-2F9D-815C32DD9E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74D324-1A4B-E503-F688-A43BB7A344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070DE91-2E01-319F-0644-9D5C40B9B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92B39-0F62-42F4-8654-D7BA1F33A135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B87CB8-427A-30C1-DF26-68E7C60CC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5F2C2-1A4C-8930-E05F-B04850B11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BD7E0-0335-4076-B3F0-9C24FD5C3F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086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390599-9640-CED9-AEF8-A5E58A986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8F1856-E35C-0207-60A5-94422BBCF3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C81013-4AD1-4270-1A6E-63009303F6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879B6AE-48A9-9212-A264-CB26EDE4C8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BFF098-26AC-B840-984A-97707126AB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19E3B3-CF5F-EAFE-BFBA-5DAC82212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92B39-0F62-42F4-8654-D7BA1F33A135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73C921-B953-66ED-2425-5A7AFE256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BCC6FB3-2C90-1519-8B46-7D0FD9252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BD7E0-0335-4076-B3F0-9C24FD5C3F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6264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41491-DE93-0761-E878-54A07EFBA1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03FD63-994A-6E65-F70D-EA6EFDDF1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92B39-0F62-42F4-8654-D7BA1F33A135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CCC081-78F7-7DC6-030E-27317E7E5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19A7E2-11F7-7312-0A46-74E8FD210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BD7E0-0335-4076-B3F0-9C24FD5C3F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8259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8E1640-958B-D847-14BD-D54102B7A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92B39-0F62-42F4-8654-D7BA1F33A135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F4F54B-1AE6-BA11-74BE-BA3A6A40A0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B3D821-FD44-2FF7-8119-52517250E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BD7E0-0335-4076-B3F0-9C24FD5C3F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049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955C6-208E-048A-1D83-EC7485789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C1D025-8EB9-32B9-FB7A-8DA66A6AE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041B6A-BDCC-3B0B-D29B-6F4A32447E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81C6C4-DC7F-AB47-7109-B97639AD5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92B39-0F62-42F4-8654-D7BA1F33A135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40F6FB-BE83-F9E6-0220-3D5492CFD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3C149B-345F-1CAE-73D1-1AA718EC8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BD7E0-0335-4076-B3F0-9C24FD5C3F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3825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FD7FDA-7B53-A579-29AC-8A26587C5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2522554-E80D-9D85-5979-5EB833D226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EC4F36-9FE5-53AE-2708-4C6CFBF3F1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0F81E0-05C9-96B3-AEDB-5A11EAC1E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92B39-0F62-42F4-8654-D7BA1F33A135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D6CF2B-76C9-711F-0500-0CCA7C44B5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B8D07-79FD-4646-437D-4466347C6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BD7E0-0335-4076-B3F0-9C24FD5C3F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181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CEAA7-47DA-A95C-42A8-899FF6400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9B6D37-A64C-ABE5-CF4A-E13AD9DC6B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AFB23A-EB99-793F-34DC-275106416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92B39-0F62-42F4-8654-D7BA1F33A135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A4D74F-637D-DEEA-B2EA-97D37B7B8D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099391-CB04-0FDB-3760-CC276E38E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BD7E0-0335-4076-B3F0-9C24FD5C3F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69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3ACB23-A6BF-EA7B-F0CC-EA157CDBAF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67C6B8-197D-4302-7513-4F8176792E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641C31-6E17-12FC-1AFF-1E5DEE9A5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92B39-0F62-42F4-8654-D7BA1F33A135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EC104A-55EA-E54E-CE3C-DE276366A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5BE797-7DF9-5A2F-3227-CD8A7EB7F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FBD7E0-0335-4076-B3F0-9C24FD5C3F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93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CC7D6A-F033-13EB-E382-40A7C6CB9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5FB920-B793-6D2F-D2E6-E2230B471A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D81E4C-3278-1EAC-415F-A9FA8360C2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A92B39-0F62-42F4-8654-D7BA1F33A135}" type="datetimeFigureOut">
              <a:rPr lang="en-US" smtClean="0"/>
              <a:t>12/7/2025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874ABD-F9AD-B032-D5A0-913F67EE315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A14F2E-7600-24AF-1725-5871D75CC3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FBD7E0-0335-4076-B3F0-9C24FD5C3F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926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8080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7EF0530-CB62-C841-9BFD-930B664CFE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92200" y="1354667"/>
            <a:ext cx="9880600" cy="4741333"/>
          </a:xfrm>
        </p:spPr>
        <p:txBody>
          <a:bodyPr>
            <a:normAutofit/>
          </a:bodyPr>
          <a:lstStyle/>
          <a:p>
            <a:r>
              <a:rPr lang="en-US" sz="4300" dirty="0" err="1">
                <a:effectLst/>
              </a:rPr>
              <a:t>CoreTelecoms</a:t>
            </a:r>
            <a:r>
              <a:rPr lang="en-US" sz="4300" dirty="0">
                <a:effectLst/>
              </a:rPr>
              <a:t> Unified Customer Experience Data Platform</a:t>
            </a:r>
          </a:p>
          <a:p>
            <a:r>
              <a:rPr lang="en-US" dirty="0">
                <a:effectLst/>
              </a:rPr>
              <a:t> Modern Data Engineering with Airflow, AWS, GCP, </a:t>
            </a:r>
            <a:r>
              <a:rPr lang="en-US" dirty="0" err="1">
                <a:effectLst/>
              </a:rPr>
              <a:t>dbt</a:t>
            </a:r>
            <a:r>
              <a:rPr lang="en-US" dirty="0">
                <a:effectLst/>
              </a:rPr>
              <a:t> &amp; Docker </a:t>
            </a:r>
          </a:p>
          <a:p>
            <a:endParaRPr lang="en-US" dirty="0"/>
          </a:p>
          <a:p>
            <a:endParaRPr lang="en-US" dirty="0">
              <a:effectLst/>
            </a:endParaRPr>
          </a:p>
          <a:p>
            <a:endParaRPr lang="en-US" dirty="0">
              <a:effectLst/>
            </a:endParaRPr>
          </a:p>
          <a:p>
            <a:r>
              <a:rPr lang="en-US" dirty="0">
                <a:effectLst/>
              </a:rPr>
              <a:t>Capstone Project – Cohort 2 </a:t>
            </a:r>
          </a:p>
          <a:p>
            <a:r>
              <a:rPr lang="en-US" dirty="0">
                <a:effectLst/>
              </a:rPr>
              <a:t>Lateef Akinola| December 7, 2025</a:t>
            </a:r>
          </a:p>
        </p:txBody>
      </p:sp>
    </p:spTree>
    <p:extLst>
      <p:ext uri="{BB962C8B-B14F-4D97-AF65-F5344CB8AC3E}">
        <p14:creationId xmlns:p14="http://schemas.microsoft.com/office/powerpoint/2010/main" val="1964166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ED093-9BD7-076C-80E5-1269FE8D2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Problem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FD703E-C013-3891-103A-237F858927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effectLst/>
              </a:rPr>
              <a:t>Current State = Chaos &amp; Churn</a:t>
            </a:r>
            <a:endParaRPr lang="en-US" dirty="0">
              <a:effectLst/>
            </a:endParaRPr>
          </a:p>
          <a:p>
            <a:pPr lvl="1"/>
            <a:r>
              <a:rPr lang="en-US" dirty="0"/>
              <a:t>38K+ complaints/month across siloed channels</a:t>
            </a:r>
          </a:p>
          <a:p>
            <a:pPr lvl="1"/>
            <a:r>
              <a:rPr lang="en-US" dirty="0"/>
              <a:t>No unified view → delayed action</a:t>
            </a:r>
          </a:p>
          <a:p>
            <a:pPr lvl="1"/>
            <a:r>
              <a:rPr lang="en-US" dirty="0"/>
              <a:t>Manual Excel hell</a:t>
            </a:r>
          </a:p>
          <a:p>
            <a:pPr lvl="1"/>
            <a:r>
              <a:rPr lang="en-US" b="1" dirty="0"/>
              <a:t>$8–12M lost yearly in preventable churn</a:t>
            </a:r>
            <a:endParaRPr lang="en-US" dirty="0"/>
          </a:p>
          <a:p>
            <a:r>
              <a:rPr lang="en-US" b="1" dirty="0">
                <a:effectLst/>
              </a:rPr>
              <a:t>We lose customers before we even see the problem.</a:t>
            </a:r>
            <a:endParaRPr lang="en-US" dirty="0">
              <a:effectLst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59667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ED093-9BD7-076C-80E5-1269FE8D2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Solution: One Unified Platform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FD703E-C013-3891-103A-237F858927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effectLst/>
              </a:rPr>
              <a:t>Goal</a:t>
            </a:r>
            <a:r>
              <a:rPr lang="en-US" dirty="0">
                <a:effectLst/>
              </a:rPr>
              <a:t>: Ingest → Transform → Analyze → Act — Daily, Automatically</a:t>
            </a:r>
          </a:p>
          <a:p>
            <a:pPr marL="0" indent="0">
              <a:buNone/>
            </a:pPr>
            <a:r>
              <a:rPr lang="en-US" b="1" dirty="0">
                <a:effectLst/>
              </a:rPr>
              <a:t>Impact</a:t>
            </a:r>
            <a:r>
              <a:rPr lang="en-US" dirty="0">
                <a:effectLst/>
              </a:rPr>
              <a:t>: Reduce churn 25–40% → </a:t>
            </a:r>
            <a:r>
              <a:rPr lang="en-US" b="1" dirty="0">
                <a:effectLst/>
              </a:rPr>
              <a:t>Save $8M+ per year</a:t>
            </a:r>
          </a:p>
          <a:p>
            <a:pPr marL="0" indent="0">
              <a:buNone/>
            </a:pPr>
            <a:endParaRPr lang="en-US" dirty="0">
              <a:effectLst/>
            </a:endParaRPr>
          </a:p>
          <a:p>
            <a:pPr marL="0" indent="0">
              <a:buNone/>
            </a:pPr>
            <a:r>
              <a:rPr lang="en-US" b="1" dirty="0">
                <a:effectLst/>
              </a:rPr>
              <a:t>Fully automated | Real-time insights | Trusted data</a:t>
            </a: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6921983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ED093-9BD7-076C-80E5-1269FE8D2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FD703E-C013-3891-103A-237F858927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effectLst/>
              </a:rPr>
              <a:t>Medallion Architecture </a:t>
            </a:r>
          </a:p>
          <a:p>
            <a:pPr marL="0" indent="0">
              <a:buNone/>
            </a:pPr>
            <a:r>
              <a:rPr lang="en-US" dirty="0"/>
              <a:t>Sources </a:t>
            </a:r>
            <a:r>
              <a:rPr lang="en-US" dirty="0">
                <a:effectLst/>
              </a:rPr>
              <a:t>→</a:t>
            </a:r>
            <a:r>
              <a:rPr lang="en-US" dirty="0"/>
              <a:t> </a:t>
            </a:r>
            <a:r>
              <a:rPr lang="en-US" dirty="0">
                <a:effectLst/>
              </a:rPr>
              <a:t>Raw (GCS) → Curated (</a:t>
            </a:r>
            <a:r>
              <a:rPr lang="en-US" dirty="0" err="1">
                <a:effectLst/>
              </a:rPr>
              <a:t>BigQuery</a:t>
            </a:r>
            <a:r>
              <a:rPr lang="en-US" dirty="0">
                <a:effectLst/>
              </a:rPr>
              <a:t> via </a:t>
            </a:r>
            <a:r>
              <a:rPr lang="en-US" dirty="0" err="1">
                <a:effectLst/>
              </a:rPr>
              <a:t>dbt</a:t>
            </a:r>
            <a:r>
              <a:rPr lang="en-US" dirty="0">
                <a:effectLst/>
              </a:rPr>
              <a:t>) → Analytics-Ready Marts</a:t>
            </a:r>
          </a:p>
        </p:txBody>
      </p:sp>
    </p:spTree>
    <p:extLst>
      <p:ext uri="{BB962C8B-B14F-4D97-AF65-F5344CB8AC3E}">
        <p14:creationId xmlns:p14="http://schemas.microsoft.com/office/powerpoint/2010/main" val="12967163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ED093-9BD7-076C-80E5-1269FE8D2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Tech Stack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8B1F5F46-1056-286D-674F-18E4DB4EB2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40447958"/>
              </p:ext>
            </p:extLst>
          </p:nvPr>
        </p:nvGraphicFramePr>
        <p:xfrm>
          <a:off x="838200" y="1810120"/>
          <a:ext cx="9177868" cy="2982016"/>
        </p:xfrm>
        <a:graphic>
          <a:graphicData uri="http://schemas.openxmlformats.org/drawingml/2006/table">
            <a:tbl>
              <a:tblPr/>
              <a:tblGrid>
                <a:gridCol w="4588934">
                  <a:extLst>
                    <a:ext uri="{9D8B030D-6E8A-4147-A177-3AD203B41FA5}">
                      <a16:colId xmlns:a16="http://schemas.microsoft.com/office/drawing/2014/main" val="1354466514"/>
                    </a:ext>
                  </a:extLst>
                </a:gridCol>
                <a:gridCol w="4588934">
                  <a:extLst>
                    <a:ext uri="{9D8B030D-6E8A-4147-A177-3AD203B41FA5}">
                      <a16:colId xmlns:a16="http://schemas.microsoft.com/office/drawing/2014/main" val="2760362362"/>
                    </a:ext>
                  </a:extLst>
                </a:gridCol>
              </a:tblGrid>
              <a:tr h="372752">
                <a:tc>
                  <a:txBody>
                    <a:bodyPr/>
                    <a:lstStyle/>
                    <a:p>
                      <a:r>
                        <a:rPr lang="en-US"/>
                        <a:t>Layer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Tool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7961307"/>
                  </a:ext>
                </a:extLst>
              </a:tr>
              <a:tr h="372752">
                <a:tc>
                  <a:txBody>
                    <a:bodyPr/>
                    <a:lstStyle/>
                    <a:p>
                      <a:r>
                        <a:rPr lang="en-US"/>
                        <a:t>Warehouse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Google BigQuery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480142"/>
                  </a:ext>
                </a:extLst>
              </a:tr>
              <a:tr h="372752">
                <a:tc>
                  <a:txBody>
                    <a:bodyPr/>
                    <a:lstStyle/>
                    <a:p>
                      <a:r>
                        <a:rPr lang="en-US"/>
                        <a:t>Transformation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dbt + BigQuery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0972807"/>
                  </a:ext>
                </a:extLst>
              </a:tr>
              <a:tr h="372752">
                <a:tc>
                  <a:txBody>
                    <a:bodyPr/>
                    <a:lstStyle/>
                    <a:p>
                      <a:r>
                        <a:rPr lang="en-US"/>
                        <a:t>Orchestration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Apache Airflow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58149752"/>
                  </a:ext>
                </a:extLst>
              </a:tr>
              <a:tr h="372752">
                <a:tc>
                  <a:txBody>
                    <a:bodyPr/>
                    <a:lstStyle/>
                    <a:p>
                      <a:r>
                        <a:rPr lang="en-US"/>
                        <a:t>Storage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AWS S3 + Google Cloud Storage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1543289"/>
                  </a:ext>
                </a:extLst>
              </a:tr>
              <a:tr h="372752">
                <a:tc>
                  <a:txBody>
                    <a:bodyPr/>
                    <a:lstStyle/>
                    <a:p>
                      <a:r>
                        <a:rPr lang="en-US"/>
                        <a:t>Ingestion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Python + psycopg2 (pure)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5723627"/>
                  </a:ext>
                </a:extLst>
              </a:tr>
              <a:tr h="372752">
                <a:tc>
                  <a:txBody>
                    <a:bodyPr/>
                    <a:lstStyle/>
                    <a:p>
                      <a:r>
                        <a:rPr lang="en-US"/>
                        <a:t>Environment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Docker + Compose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8151553"/>
                  </a:ext>
                </a:extLst>
              </a:tr>
              <a:tr h="372752">
                <a:tc>
                  <a:txBody>
                    <a:bodyPr/>
                    <a:lstStyle/>
                    <a:p>
                      <a:r>
                        <a:rPr lang="en-US" dirty="0" err="1"/>
                        <a:t>IaC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Terraform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605914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0A52305D-7EDB-55CB-EE61-953E3DF6F640}"/>
              </a:ext>
            </a:extLst>
          </p:cNvPr>
          <p:cNvSpPr txBox="1"/>
          <p:nvPr/>
        </p:nvSpPr>
        <p:spPr>
          <a:xfrm>
            <a:off x="838199" y="5090066"/>
            <a:ext cx="84666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effectLst/>
              </a:rPr>
              <a:t>Metadata-driven | Containerized | Secure</a:t>
            </a:r>
          </a:p>
        </p:txBody>
      </p:sp>
    </p:spTree>
    <p:extLst>
      <p:ext uri="{BB962C8B-B14F-4D97-AF65-F5344CB8AC3E}">
        <p14:creationId xmlns:p14="http://schemas.microsoft.com/office/powerpoint/2010/main" val="20285009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ED093-9BD7-076C-80E5-1269FE8D2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It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FD703E-C013-3891-103A-237F858927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docker-compose up -d –build</a:t>
            </a:r>
          </a:p>
          <a:p>
            <a:pPr marL="0" indent="0">
              <a:buNone/>
            </a:pPr>
            <a:r>
              <a:rPr lang="en-US" dirty="0"/>
              <a:t>→ </a:t>
            </a:r>
            <a:r>
              <a:rPr lang="en-US" dirty="0">
                <a:hlinkClick r:id="rId2"/>
              </a:rPr>
              <a:t>http://localhost:8080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→ Trigger "</a:t>
            </a:r>
            <a:r>
              <a:rPr lang="en-US" dirty="0" err="1"/>
              <a:t>coretelecoms_full_pipeline</a:t>
            </a:r>
            <a:r>
              <a:rPr lang="en-US" dirty="0"/>
              <a:t>" DAG</a:t>
            </a:r>
          </a:p>
          <a:p>
            <a:pPr marL="0" indent="0">
              <a:buNone/>
            </a:pPr>
            <a:r>
              <a:rPr lang="en-US" dirty="0"/>
              <a:t>→ Watch raw → </a:t>
            </a:r>
            <a:r>
              <a:rPr lang="en-US" dirty="0" err="1"/>
              <a:t>BigQuery</a:t>
            </a:r>
            <a:r>
              <a:rPr lang="en-US" dirty="0"/>
              <a:t> in real time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>
                <a:effectLst/>
              </a:rPr>
              <a:t>Zero setup. Works on any laptop.</a:t>
            </a:r>
            <a:endParaRPr lang="en-US" dirty="0">
              <a:effectLst/>
            </a:endParaRPr>
          </a:p>
          <a:p>
            <a:pPr marL="0" indent="0">
              <a:buNone/>
            </a:pPr>
            <a:r>
              <a:rPr lang="en-US" dirty="0">
                <a:effectLst/>
              </a:rPr>
              <a:t>Key Features: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Metadata-driven ingestion (</a:t>
            </a:r>
            <a:r>
              <a:rPr lang="en-US" dirty="0" err="1"/>
              <a:t>sources.yaml</a:t>
            </a:r>
            <a:r>
              <a:rPr lang="en-US" dirty="0"/>
              <a:t>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Automatic daily run via orchestration</a:t>
            </a:r>
          </a:p>
        </p:txBody>
      </p:sp>
    </p:spTree>
    <p:extLst>
      <p:ext uri="{BB962C8B-B14F-4D97-AF65-F5344CB8AC3E}">
        <p14:creationId xmlns:p14="http://schemas.microsoft.com/office/powerpoint/2010/main" val="18957274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ED093-9BD7-076C-80E5-1269FE8D2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Business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FD703E-C013-3891-103A-237F858927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effectLst/>
              </a:rPr>
              <a:t>Work in progress</a:t>
            </a:r>
            <a:endParaRPr lang="en-US" dirty="0">
              <a:effectLst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16323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ED093-9BD7-076C-80E5-1269FE8D2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Thank You &amp; 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FD703E-C013-3891-103A-237F858927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effectLst/>
              </a:rPr>
              <a:t>This capstone project is production-ready and can saves millions.</a:t>
            </a:r>
            <a:endParaRPr lang="en-US" dirty="0">
              <a:effectLst/>
            </a:endParaRPr>
          </a:p>
          <a:p>
            <a:r>
              <a:rPr lang="en-US" b="1" dirty="0">
                <a:effectLst/>
              </a:rPr>
              <a:t>Deliverables</a:t>
            </a:r>
            <a:endParaRPr lang="en-US" dirty="0">
              <a:effectLst/>
            </a:endParaRPr>
          </a:p>
          <a:p>
            <a:pPr lvl="1"/>
            <a:r>
              <a:rPr lang="en-US" dirty="0"/>
              <a:t>GitHub repo (fully runnable)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12196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255</Words>
  <Application>Microsoft Office PowerPoint</Application>
  <PresentationFormat>Widescreen</PresentationFormat>
  <Paragraphs>56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The Problem</vt:lpstr>
      <vt:lpstr>The Solution: One Unified Platform</vt:lpstr>
      <vt:lpstr>Architecture</vt:lpstr>
      <vt:lpstr>Tech Stack</vt:lpstr>
      <vt:lpstr>How It Works</vt:lpstr>
      <vt:lpstr>Business Insights</vt:lpstr>
      <vt:lpstr>Thank You &amp; 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AbuS</dc:creator>
  <cp:lastModifiedBy>AbuS</cp:lastModifiedBy>
  <cp:revision>1</cp:revision>
  <dcterms:created xsi:type="dcterms:W3CDTF">2025-12-07T21:45:45Z</dcterms:created>
  <dcterms:modified xsi:type="dcterms:W3CDTF">2025-12-07T22:04:00Z</dcterms:modified>
</cp:coreProperties>
</file>